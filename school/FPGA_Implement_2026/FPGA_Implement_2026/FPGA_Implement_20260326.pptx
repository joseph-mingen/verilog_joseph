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5" r:id="rId2"/>
    <p:sldId id="256" r:id="rId3"/>
    <p:sldId id="270" r:id="rId4"/>
    <p:sldId id="260" r:id="rId5"/>
    <p:sldId id="259" r:id="rId6"/>
    <p:sldId id="286" r:id="rId7"/>
    <p:sldId id="301" r:id="rId8"/>
    <p:sldId id="294" r:id="rId9"/>
    <p:sldId id="302" r:id="rId10"/>
    <p:sldId id="296" r:id="rId11"/>
    <p:sldId id="297" r:id="rId12"/>
    <p:sldId id="298" r:id="rId13"/>
    <p:sldId id="299" r:id="rId14"/>
    <p:sldId id="300" r:id="rId15"/>
    <p:sldId id="276" r:id="rId16"/>
    <p:sldId id="283" r:id="rId17"/>
    <p:sldId id="284" r:id="rId18"/>
    <p:sldId id="285" r:id="rId19"/>
    <p:sldId id="257" r:id="rId20"/>
    <p:sldId id="258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653C7-C02B-408E-9C25-7BEF107F333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0B36-495B-4F6B-B956-53329D4AE6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07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653C7-C02B-408E-9C25-7BEF107F333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0B36-495B-4F6B-B956-53329D4AE6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5338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653C7-C02B-408E-9C25-7BEF107F333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0B36-495B-4F6B-B956-53329D4AE6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9317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653C7-C02B-408E-9C25-7BEF107F333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0B36-495B-4F6B-B956-53329D4AE6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156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653C7-C02B-408E-9C25-7BEF107F333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0B36-495B-4F6B-B956-53329D4AE6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223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653C7-C02B-408E-9C25-7BEF107F333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0B36-495B-4F6B-B956-53329D4AE6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5644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653C7-C02B-408E-9C25-7BEF107F333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0B36-495B-4F6B-B956-53329D4AE6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1820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653C7-C02B-408E-9C25-7BEF107F333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0B36-495B-4F6B-B956-53329D4AE6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4661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653C7-C02B-408E-9C25-7BEF107F333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0B36-495B-4F6B-B956-53329D4AE6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8823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653C7-C02B-408E-9C25-7BEF107F333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0B36-495B-4F6B-B956-53329D4AE6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5262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653C7-C02B-408E-9C25-7BEF107F333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C0B36-495B-4F6B-B956-53329D4AE6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274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B653C7-C02B-408E-9C25-7BEF107F333F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C0B36-495B-4F6B-B956-53329D4AE6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7678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lent.com/reference/programmable-logic/arty-s7/reference-manual?srsltid=AfmBOorzbXbcaCx2YBEzwtKWQFyjFJ2-ehX9uNFsndON17hN3UM-zHf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C18B95B-4E29-407C-BC52-FFB9BEBC0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80" y="1576547"/>
            <a:ext cx="4695258" cy="4633206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4048463" y="1758778"/>
            <a:ext cx="2132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FF0000"/>
                </a:solidFill>
              </a:rPr>
              <a:t>原始 </a:t>
            </a:r>
            <a:r>
              <a:rPr lang="en-US" altLang="zh-TW" sz="2000" b="1" dirty="0">
                <a:solidFill>
                  <a:srgbClr val="FF0000"/>
                </a:solidFill>
              </a:rPr>
              <a:t>constrain file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030145" y="2800865"/>
            <a:ext cx="23383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26</a:t>
            </a:r>
            <a:r>
              <a:rPr lang="zh-TW" altLang="en-US" sz="2000" b="1" dirty="0">
                <a:solidFill>
                  <a:srgbClr val="FF0000"/>
                </a:solidFill>
              </a:rPr>
              <a:t> 位元除頻器 </a:t>
            </a:r>
            <a:r>
              <a:rPr lang="en-US" altLang="zh-TW" sz="2000" b="1" dirty="0">
                <a:solidFill>
                  <a:srgbClr val="FF0000"/>
                </a:solidFill>
              </a:rPr>
              <a:t>.v </a:t>
            </a:r>
            <a:r>
              <a:rPr lang="zh-TW" altLang="en-US" sz="2000" b="1" dirty="0">
                <a:solidFill>
                  <a:srgbClr val="FF0000"/>
                </a:solidFill>
              </a:rPr>
              <a:t>檔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4048463" y="3388921"/>
            <a:ext cx="32189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26</a:t>
            </a:r>
            <a:r>
              <a:rPr lang="zh-TW" altLang="en-US" sz="2000" b="1" dirty="0">
                <a:solidFill>
                  <a:srgbClr val="FF0000"/>
                </a:solidFill>
              </a:rPr>
              <a:t> 位元除頻器 </a:t>
            </a:r>
            <a:r>
              <a:rPr lang="en-US" altLang="zh-TW" sz="2000" b="1" dirty="0">
                <a:solidFill>
                  <a:srgbClr val="FF0000"/>
                </a:solidFill>
              </a:rPr>
              <a:t>constrain file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335951" y="401122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FF0000"/>
                </a:solidFill>
              </a:rPr>
              <a:t>說明檔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4030145" y="2306782"/>
            <a:ext cx="26116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26</a:t>
            </a:r>
            <a:r>
              <a:rPr lang="zh-TW" altLang="en-US" sz="2000" b="1" dirty="0">
                <a:solidFill>
                  <a:srgbClr val="FF0000"/>
                </a:solidFill>
              </a:rPr>
              <a:t> 位元除頻器電路圖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4141104" y="4531819"/>
            <a:ext cx="2389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Ring Counter </a:t>
            </a:r>
            <a:r>
              <a:rPr lang="zh-TW" altLang="en-US" sz="2000" b="1" dirty="0">
                <a:solidFill>
                  <a:srgbClr val="FF0000"/>
                </a:solidFill>
              </a:rPr>
              <a:t>電路圖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4030145" y="5809643"/>
            <a:ext cx="2997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Ring Counter</a:t>
            </a:r>
            <a:r>
              <a:rPr lang="zh-TW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TW" sz="2000" b="1" dirty="0">
                <a:solidFill>
                  <a:srgbClr val="FF0000"/>
                </a:solidFill>
              </a:rPr>
              <a:t>constrain file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66680" y="456085"/>
            <a:ext cx="43903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/>
              <a:t>/</a:t>
            </a:r>
            <a:r>
              <a:rPr lang="zh-TW" altLang="en-US" sz="3200" b="1" dirty="0"/>
              <a:t>FPGA_</a:t>
            </a:r>
            <a:r>
              <a:rPr lang="en-US" altLang="zh-TW" sz="3200" b="1" dirty="0"/>
              <a:t>Implement</a:t>
            </a:r>
            <a:r>
              <a:rPr lang="zh-TW" altLang="en-US" sz="3200" b="1" dirty="0"/>
              <a:t>_2026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34E33F8-FC75-47F8-8F75-A5E5F044D5AF}"/>
              </a:ext>
            </a:extLst>
          </p:cNvPr>
          <p:cNvSpPr txBox="1"/>
          <p:nvPr/>
        </p:nvSpPr>
        <p:spPr>
          <a:xfrm>
            <a:off x="4114838" y="5184498"/>
            <a:ext cx="2102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Ring Counter.</a:t>
            </a:r>
            <a:r>
              <a:rPr lang="zh-TW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TW" sz="2000" b="1" dirty="0">
                <a:solidFill>
                  <a:srgbClr val="FF0000"/>
                </a:solidFill>
              </a:rPr>
              <a:t>v </a:t>
            </a:r>
            <a:r>
              <a:rPr lang="zh-TW" altLang="en-US" sz="2000" b="1" dirty="0">
                <a:solidFill>
                  <a:srgbClr val="FF0000"/>
                </a:solidFill>
              </a:rPr>
              <a:t>檔</a:t>
            </a:r>
          </a:p>
        </p:txBody>
      </p:sp>
    </p:spTree>
    <p:extLst>
      <p:ext uri="{BB962C8B-B14F-4D97-AF65-F5344CB8AC3E}">
        <p14:creationId xmlns:p14="http://schemas.microsoft.com/office/powerpoint/2010/main" val="201224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85BD0B99-AA73-401A-A21D-311F9F26D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57" y="3555101"/>
            <a:ext cx="4020136" cy="3250552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10F3D5FC-5687-4286-BBDA-4EDDC55931B0}"/>
              </a:ext>
            </a:extLst>
          </p:cNvPr>
          <p:cNvSpPr txBox="1"/>
          <p:nvPr/>
        </p:nvSpPr>
        <p:spPr>
          <a:xfrm>
            <a:off x="219635" y="52347"/>
            <a:ext cx="870472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/>
              <a:t>FPGA</a:t>
            </a:r>
            <a:r>
              <a:rPr lang="zh-TW" altLang="en-US" sz="2400" b="1" dirty="0"/>
              <a:t> </a:t>
            </a:r>
            <a:r>
              <a:rPr lang="en-US" altLang="zh-TW" sz="2400" b="1" i="0" dirty="0">
                <a:solidFill>
                  <a:srgbClr val="333333"/>
                </a:solidFill>
                <a:effectLst/>
                <a:latin typeface="soleil"/>
              </a:rPr>
              <a:t>configuration: using DIGILENT ARTY S7</a:t>
            </a:r>
          </a:p>
          <a:p>
            <a:r>
              <a:rPr lang="en-US" altLang="zh-TW" dirty="0"/>
              <a:t>Reference: </a:t>
            </a:r>
          </a:p>
          <a:p>
            <a:r>
              <a:rPr lang="zh-TW" altLang="en-US" sz="1600" dirty="0">
                <a:hlinkClick r:id="rId3"/>
              </a:rPr>
              <a:t>https://digilent.com/reference/programmable-logic/arty-s7/reference-manual?srsltid=AfmBOorzbXbcaCx2YBEzwtKWQFyjFJ2-ehX9uNFsndON17hN3UM-zHf5</a:t>
            </a:r>
            <a:endParaRPr lang="zh-TW" altLang="en-US" sz="1600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05A2905-6CA2-44A2-A8C6-638F4C955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336" y="1231136"/>
            <a:ext cx="5631328" cy="232396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5773F855-9164-4300-ACA5-4269A4575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7577" y="3712054"/>
            <a:ext cx="2700850" cy="2708782"/>
          </a:xfrm>
          <a:prstGeom prst="rect">
            <a:avLst/>
          </a:prstGeom>
        </p:spPr>
      </p:pic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3500A668-D26D-4ABF-9E48-0424D2658989}"/>
              </a:ext>
            </a:extLst>
          </p:cNvPr>
          <p:cNvCxnSpPr/>
          <p:nvPr/>
        </p:nvCxnSpPr>
        <p:spPr>
          <a:xfrm flipV="1">
            <a:off x="2635624" y="4733890"/>
            <a:ext cx="2689411" cy="8015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52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D618D27-3C20-4462-A27D-F877B6486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643" y="0"/>
            <a:ext cx="4636805" cy="363070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67366BC-82E0-47AB-8DC3-558CBD072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499" y="3662419"/>
            <a:ext cx="6563585" cy="3195581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02E84385-B3B0-44C1-9F1D-B367D3C4AC48}"/>
              </a:ext>
            </a:extLst>
          </p:cNvPr>
          <p:cNvSpPr/>
          <p:nvPr/>
        </p:nvSpPr>
        <p:spPr>
          <a:xfrm>
            <a:off x="1344706" y="5468471"/>
            <a:ext cx="2832847" cy="17032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24283BE-7E32-49F1-8AA7-19505D206EF0}"/>
              </a:ext>
            </a:extLst>
          </p:cNvPr>
          <p:cNvSpPr/>
          <p:nvPr/>
        </p:nvSpPr>
        <p:spPr>
          <a:xfrm>
            <a:off x="1335738" y="5755341"/>
            <a:ext cx="2832847" cy="17032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6CD2554-7DC2-4D14-BFE1-4178F3A57C0D}"/>
              </a:ext>
            </a:extLst>
          </p:cNvPr>
          <p:cNvSpPr/>
          <p:nvPr/>
        </p:nvSpPr>
        <p:spPr>
          <a:xfrm>
            <a:off x="1335744" y="6033245"/>
            <a:ext cx="2832847" cy="17032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7AAEC22-254A-4361-B994-4AF988FA8E77}"/>
              </a:ext>
            </a:extLst>
          </p:cNvPr>
          <p:cNvSpPr/>
          <p:nvPr/>
        </p:nvSpPr>
        <p:spPr>
          <a:xfrm>
            <a:off x="1335738" y="6333562"/>
            <a:ext cx="2832847" cy="17032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B6E8313-8BD4-47E0-9A68-3B938577C41C}"/>
              </a:ext>
            </a:extLst>
          </p:cNvPr>
          <p:cNvSpPr/>
          <p:nvPr/>
        </p:nvSpPr>
        <p:spPr>
          <a:xfrm>
            <a:off x="1388709" y="4327882"/>
            <a:ext cx="2832847" cy="17032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98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5447C72-2E5F-49E0-837B-86F47CB2E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85002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862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E6182F48-4F55-4FC7-94EF-E616D0DC9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9840"/>
            <a:ext cx="9144000" cy="4462412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3B307505-2E99-4765-99DF-91EEB761A27C}"/>
              </a:ext>
            </a:extLst>
          </p:cNvPr>
          <p:cNvSpPr txBox="1"/>
          <p:nvPr/>
        </p:nvSpPr>
        <p:spPr>
          <a:xfrm>
            <a:off x="165847" y="117465"/>
            <a:ext cx="88123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The Arty S7 board includes: </a:t>
            </a:r>
          </a:p>
          <a:p>
            <a:r>
              <a:rPr lang="en-US" altLang="zh-TW" dirty="0"/>
              <a:t>One 12 MHz crystal oscillator connected to pin F14 </a:t>
            </a:r>
          </a:p>
          <a:p>
            <a:r>
              <a:rPr lang="en-US" altLang="zh-TW" dirty="0"/>
              <a:t>One 100 MHz crystal oscillator connected to pin R2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9831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58" y="1267295"/>
            <a:ext cx="8778284" cy="462813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4C67BE1-ECA0-4321-917F-B446213F4922}"/>
              </a:ext>
            </a:extLst>
          </p:cNvPr>
          <p:cNvSpPr txBox="1"/>
          <p:nvPr/>
        </p:nvSpPr>
        <p:spPr>
          <a:xfrm>
            <a:off x="182858" y="0"/>
            <a:ext cx="831584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sz="2400" b="1" dirty="0"/>
              <a:t>Using “Digital” to construct the circuit schematic: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4C67BE1-ECA0-4321-917F-B446213F4922}"/>
              </a:ext>
            </a:extLst>
          </p:cNvPr>
          <p:cNvSpPr txBox="1"/>
          <p:nvPr/>
        </p:nvSpPr>
        <p:spPr>
          <a:xfrm>
            <a:off x="182858" y="619595"/>
            <a:ext cx="7871013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sz="2400" b="1" dirty="0"/>
              <a:t>26bit clock divider, CLK is connected to a 12MHz OSC.</a:t>
            </a:r>
          </a:p>
        </p:txBody>
      </p:sp>
    </p:spTree>
    <p:extLst>
      <p:ext uri="{BB962C8B-B14F-4D97-AF65-F5344CB8AC3E}">
        <p14:creationId xmlns:p14="http://schemas.microsoft.com/office/powerpoint/2010/main" val="3784642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6160B817-3E8B-478A-B6DD-C9050C826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718199"/>
            <a:ext cx="7343841" cy="592498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6DA2682-E44A-4E8E-8B37-3E08F631DE11}"/>
              </a:ext>
            </a:extLst>
          </p:cNvPr>
          <p:cNvSpPr txBox="1"/>
          <p:nvPr/>
        </p:nvSpPr>
        <p:spPr>
          <a:xfrm>
            <a:off x="134470" y="256534"/>
            <a:ext cx="7871013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sz="2400" b="1" dirty="0"/>
              <a:t>.</a:t>
            </a:r>
            <a:r>
              <a:rPr lang="en-US" altLang="zh-TW" sz="2400" b="1" dirty="0" err="1"/>
              <a:t>xdc</a:t>
            </a:r>
            <a:r>
              <a:rPr lang="en-US" altLang="zh-TW" sz="2400" b="1" dirty="0"/>
              <a:t> constrain file for 26-bit clock divider: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E252B97-26F4-443E-8D24-FE29FB9C1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89824"/>
            <a:ext cx="9144000" cy="144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25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979585"/>
            <a:ext cx="8763000" cy="462749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90500" y="77538"/>
            <a:ext cx="47636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/>
              <a:t>Ring Counter:</a:t>
            </a:r>
          </a:p>
        </p:txBody>
      </p:sp>
    </p:spTree>
    <p:extLst>
      <p:ext uri="{BB962C8B-B14F-4D97-AF65-F5344CB8AC3E}">
        <p14:creationId xmlns:p14="http://schemas.microsoft.com/office/powerpoint/2010/main" val="1674269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EAD71349-EE22-4B64-944F-32377A581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495" y="664076"/>
            <a:ext cx="7422474" cy="598842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6B2C272-F474-4294-824F-C4646A826912}"/>
              </a:ext>
            </a:extLst>
          </p:cNvPr>
          <p:cNvSpPr txBox="1"/>
          <p:nvPr/>
        </p:nvSpPr>
        <p:spPr>
          <a:xfrm>
            <a:off x="161365" y="202411"/>
            <a:ext cx="7871013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sz="2400" b="1" dirty="0"/>
              <a:t>.</a:t>
            </a:r>
            <a:r>
              <a:rPr lang="en-US" altLang="zh-TW" sz="2400" b="1" dirty="0" err="1"/>
              <a:t>xdc</a:t>
            </a:r>
            <a:r>
              <a:rPr lang="en-US" altLang="zh-TW" sz="2400" b="1" dirty="0"/>
              <a:t> constrain file for 26-bit clock divider: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050EDAB-156B-49E6-AC7C-E8EE755AE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46313"/>
            <a:ext cx="9144000" cy="181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608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EC97ECE-2F4B-4434-9398-A9ADDAC10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00" y="170330"/>
            <a:ext cx="8460730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7E50A25-CC4A-403D-9EA7-96624D830C63}"/>
              </a:ext>
            </a:extLst>
          </p:cNvPr>
          <p:cNvSpPr txBox="1"/>
          <p:nvPr/>
        </p:nvSpPr>
        <p:spPr>
          <a:xfrm>
            <a:off x="2048435" y="3764820"/>
            <a:ext cx="47602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Add *.v file for circuit</a:t>
            </a:r>
          </a:p>
        </p:txBody>
      </p:sp>
    </p:spTree>
    <p:extLst>
      <p:ext uri="{BB962C8B-B14F-4D97-AF65-F5344CB8AC3E}">
        <p14:creationId xmlns:p14="http://schemas.microsoft.com/office/powerpoint/2010/main" val="458486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57DB356-AE16-4DCB-9105-563D8D42E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47"/>
            <a:ext cx="9144000" cy="683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35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90AC4F0-5C9E-4D8E-A254-82E099DF5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789"/>
            <a:ext cx="9144000" cy="642042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A9A0536-CCD3-4434-8822-8061A0ADF54E}"/>
              </a:ext>
            </a:extLst>
          </p:cNvPr>
          <p:cNvSpPr txBox="1"/>
          <p:nvPr/>
        </p:nvSpPr>
        <p:spPr>
          <a:xfrm>
            <a:off x="1860176" y="4499926"/>
            <a:ext cx="5768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Add *.</a:t>
            </a:r>
            <a:r>
              <a:rPr lang="en-US" altLang="zh-TW" sz="3600" b="1" dirty="0" err="1">
                <a:solidFill>
                  <a:srgbClr val="FF0000"/>
                </a:solidFill>
              </a:rPr>
              <a:t>xdc</a:t>
            </a:r>
            <a:r>
              <a:rPr lang="en-US" altLang="zh-TW" sz="3600" b="1" dirty="0">
                <a:solidFill>
                  <a:srgbClr val="FF0000"/>
                </a:solidFill>
              </a:rPr>
              <a:t> file for constraint</a:t>
            </a:r>
          </a:p>
        </p:txBody>
      </p:sp>
    </p:spTree>
    <p:extLst>
      <p:ext uri="{BB962C8B-B14F-4D97-AF65-F5344CB8AC3E}">
        <p14:creationId xmlns:p14="http://schemas.microsoft.com/office/powerpoint/2010/main" val="276747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CF27B3C-AF63-4862-8DDD-18340F9BC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7" y="0"/>
            <a:ext cx="90783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998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EF4E4F1-4A49-477D-93DD-063E7F6D3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3545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E80C9FC-FBD6-49A7-9FA6-27E84455897F}"/>
              </a:ext>
            </a:extLst>
          </p:cNvPr>
          <p:cNvSpPr txBox="1"/>
          <p:nvPr/>
        </p:nvSpPr>
        <p:spPr>
          <a:xfrm>
            <a:off x="2841812" y="22544"/>
            <a:ext cx="58539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Select FPGA type as </a:t>
            </a:r>
          </a:p>
          <a:p>
            <a:r>
              <a:rPr lang="en-US" altLang="zh-TW" sz="2800" b="1" dirty="0">
                <a:solidFill>
                  <a:srgbClr val="FF0000"/>
                </a:solidFill>
              </a:rPr>
              <a:t>xc7s50csga324-1 or</a:t>
            </a:r>
            <a:r>
              <a:rPr lang="zh-TW" altLang="en-US" sz="2800" b="1" dirty="0">
                <a:solidFill>
                  <a:srgbClr val="FF0000"/>
                </a:solidFill>
              </a:rPr>
              <a:t> </a:t>
            </a:r>
            <a:r>
              <a:rPr lang="en-US" altLang="zh-TW" sz="2800" b="1" dirty="0">
                <a:solidFill>
                  <a:srgbClr val="FF0000"/>
                </a:solidFill>
              </a:rPr>
              <a:t>xc7s50csga324-1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45876A-8C49-43B4-B76B-75B2E57BC35E}"/>
              </a:ext>
            </a:extLst>
          </p:cNvPr>
          <p:cNvSpPr/>
          <p:nvPr/>
        </p:nvSpPr>
        <p:spPr>
          <a:xfrm>
            <a:off x="2052918" y="3917576"/>
            <a:ext cx="6884894" cy="242048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F5AC3B1-E135-4960-8833-7E0C7D9AD652}"/>
              </a:ext>
            </a:extLst>
          </p:cNvPr>
          <p:cNvSpPr txBox="1"/>
          <p:nvPr/>
        </p:nvSpPr>
        <p:spPr>
          <a:xfrm>
            <a:off x="3200401" y="1481735"/>
            <a:ext cx="58539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</a:rPr>
              <a:t>Quick search using </a:t>
            </a:r>
          </a:p>
          <a:p>
            <a:r>
              <a:rPr lang="en-US" altLang="zh-TW" sz="2800" b="1" dirty="0">
                <a:solidFill>
                  <a:srgbClr val="FF0000"/>
                </a:solidFill>
              </a:rPr>
              <a:t>“Spartan-7” and “csga324”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69A930-B784-4704-B70F-6A0B9CA9A5AC}"/>
              </a:ext>
            </a:extLst>
          </p:cNvPr>
          <p:cNvSpPr/>
          <p:nvPr/>
        </p:nvSpPr>
        <p:spPr>
          <a:xfrm>
            <a:off x="2259106" y="2819400"/>
            <a:ext cx="2563906" cy="33617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B4F06F-5E12-4347-89B2-A0528424373C}"/>
              </a:ext>
            </a:extLst>
          </p:cNvPr>
          <p:cNvSpPr/>
          <p:nvPr/>
        </p:nvSpPr>
        <p:spPr>
          <a:xfrm>
            <a:off x="4894728" y="2545979"/>
            <a:ext cx="1882589" cy="33617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9525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8FDA8B0-EA08-4F89-8ADB-4445B19E7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27" y="80682"/>
            <a:ext cx="8454732" cy="662362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BC68CDA-71C9-417E-A9FD-B3F1B9EABF83}"/>
              </a:ext>
            </a:extLst>
          </p:cNvPr>
          <p:cNvSpPr txBox="1"/>
          <p:nvPr/>
        </p:nvSpPr>
        <p:spPr>
          <a:xfrm>
            <a:off x="1536369" y="3908253"/>
            <a:ext cx="6373906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The constraint file can be found in the “Sources”</a:t>
            </a:r>
          </a:p>
        </p:txBody>
      </p:sp>
    </p:spTree>
    <p:extLst>
      <p:ext uri="{BB962C8B-B14F-4D97-AF65-F5344CB8AC3E}">
        <p14:creationId xmlns:p14="http://schemas.microsoft.com/office/powerpoint/2010/main" val="1047810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A53DCD9-0D00-4D6F-854E-C73F8CA60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844" y="0"/>
            <a:ext cx="6818312" cy="685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B310FA3-BCDB-4119-8210-103B72F50CCD}"/>
              </a:ext>
            </a:extLst>
          </p:cNvPr>
          <p:cNvSpPr txBox="1"/>
          <p:nvPr/>
        </p:nvSpPr>
        <p:spPr>
          <a:xfrm>
            <a:off x="116540" y="136721"/>
            <a:ext cx="8315844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Run Implementation:</a:t>
            </a:r>
          </a:p>
          <a:p>
            <a:r>
              <a:rPr lang="en-US" altLang="zh-TW" sz="2400" b="1" dirty="0">
                <a:solidFill>
                  <a:srgbClr val="FF0000"/>
                </a:solidFill>
              </a:rPr>
              <a:t>PROGRAM AND DEBUG &gt;&gt; Generate Bitstream </a:t>
            </a:r>
          </a:p>
        </p:txBody>
      </p:sp>
    </p:spTree>
    <p:extLst>
      <p:ext uri="{BB962C8B-B14F-4D97-AF65-F5344CB8AC3E}">
        <p14:creationId xmlns:p14="http://schemas.microsoft.com/office/powerpoint/2010/main" val="794078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E528942-0F35-4FBE-A145-562C06D701D9}"/>
              </a:ext>
            </a:extLst>
          </p:cNvPr>
          <p:cNvSpPr txBox="1"/>
          <p:nvPr/>
        </p:nvSpPr>
        <p:spPr>
          <a:xfrm>
            <a:off x="206187" y="136721"/>
            <a:ext cx="8315844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Connect the develop board via USB</a:t>
            </a:r>
            <a:r>
              <a:rPr lang="zh-TW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</a:rPr>
              <a:t>wire, and </a:t>
            </a:r>
          </a:p>
          <a:p>
            <a:r>
              <a:rPr lang="en-US" altLang="zh-TW" sz="2400" b="1" dirty="0">
                <a:solidFill>
                  <a:srgbClr val="FF0000"/>
                </a:solidFill>
              </a:rPr>
              <a:t>Open Hardware Manager &gt;&gt; Open Target &gt;&gt; Auto Connected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31177C9-C462-4115-AE4A-E7A51D71B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675" y="1834272"/>
            <a:ext cx="6268325" cy="488700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7770EAD-908B-4A57-94C4-70CD2FACD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40" y="967718"/>
            <a:ext cx="4099527" cy="2657100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2FA721B7-292C-459E-B5AC-36D4FF68328B}"/>
              </a:ext>
            </a:extLst>
          </p:cNvPr>
          <p:cNvSpPr txBox="1"/>
          <p:nvPr/>
        </p:nvSpPr>
        <p:spPr>
          <a:xfrm>
            <a:off x="5585012" y="5478790"/>
            <a:ext cx="3254187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The hardware is successfully connected</a:t>
            </a:r>
          </a:p>
        </p:txBody>
      </p:sp>
    </p:spTree>
    <p:extLst>
      <p:ext uri="{BB962C8B-B14F-4D97-AF65-F5344CB8AC3E}">
        <p14:creationId xmlns:p14="http://schemas.microsoft.com/office/powerpoint/2010/main" val="3172036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03FBB00-D5BF-46EE-B58C-C83A2A195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57" y="713425"/>
            <a:ext cx="3270775" cy="2424221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4C67BE1-ECA0-4321-917F-B446213F4922}"/>
              </a:ext>
            </a:extLst>
          </p:cNvPr>
          <p:cNvSpPr txBox="1"/>
          <p:nvPr/>
        </p:nvSpPr>
        <p:spPr>
          <a:xfrm>
            <a:off x="206187" y="136721"/>
            <a:ext cx="831584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sz="2400" b="1" dirty="0"/>
              <a:t>Program Device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30D4A5F-18A9-4E4B-BAE5-52B939DA1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233" y="3252685"/>
            <a:ext cx="5715798" cy="3162741"/>
          </a:xfrm>
          <a:prstGeom prst="rect">
            <a:avLst/>
          </a:prstGeom>
        </p:spPr>
      </p:pic>
      <p:sp>
        <p:nvSpPr>
          <p:cNvPr id="9" name="橢圓 8">
            <a:extLst>
              <a:ext uri="{FF2B5EF4-FFF2-40B4-BE49-F238E27FC236}">
                <a16:creationId xmlns:a16="http://schemas.microsoft.com/office/drawing/2014/main" id="{BD85D048-F0ED-495D-8EC9-6CD902A6944C}"/>
              </a:ext>
            </a:extLst>
          </p:cNvPr>
          <p:cNvSpPr/>
          <p:nvPr/>
        </p:nvSpPr>
        <p:spPr>
          <a:xfrm>
            <a:off x="6414246" y="5800164"/>
            <a:ext cx="999566" cy="615261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A1E6C28-1877-4285-8991-938293A91409}"/>
              </a:ext>
            </a:extLst>
          </p:cNvPr>
          <p:cNvSpPr txBox="1"/>
          <p:nvPr/>
        </p:nvSpPr>
        <p:spPr>
          <a:xfrm>
            <a:off x="3738281" y="5953760"/>
            <a:ext cx="2352003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sz="2400" b="1" dirty="0"/>
              <a:t>Done~!</a:t>
            </a:r>
          </a:p>
        </p:txBody>
      </p:sp>
    </p:spTree>
    <p:extLst>
      <p:ext uri="{BB962C8B-B14F-4D97-AF65-F5344CB8AC3E}">
        <p14:creationId xmlns:p14="http://schemas.microsoft.com/office/powerpoint/2010/main" val="3634916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5F7060BB-0F0D-4D56-85CD-07CB5E1B5D7B}"/>
              </a:ext>
            </a:extLst>
          </p:cNvPr>
          <p:cNvSpPr txBox="1"/>
          <p:nvPr/>
        </p:nvSpPr>
        <p:spPr>
          <a:xfrm>
            <a:off x="206190" y="230482"/>
            <a:ext cx="844475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Ball Grid Array</a:t>
            </a:r>
            <a:r>
              <a:rPr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package:</a:t>
            </a:r>
            <a:r>
              <a:rPr lang="zh-TW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TW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(BGA)</a:t>
            </a:r>
          </a:p>
          <a:p>
            <a:endParaRPr lang="en-US" altLang="zh-TW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altLang="zh-TW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altLang="zh-TW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altLang="zh-TW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altLang="zh-TW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altLang="zh-TW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altLang="zh-TW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altLang="zh-TW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altLang="zh-TW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altLang="zh-TW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r>
              <a:rPr lang="en-US" altLang="zh-TW" b="0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Dual In-line Package</a:t>
            </a:r>
            <a:r>
              <a:rPr lang="zh-TW" altLang="en-US" b="0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TW" b="0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(DIP)</a:t>
            </a:r>
            <a:endParaRPr lang="en-US" altLang="zh-TW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altLang="zh-TW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altLang="zh-TW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altLang="zh-TW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altLang="zh-TW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altLang="zh-TW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altLang="zh-TW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1026" name="Picture 2" descr="7 Types of BGA (Ball Grid Array) Packages - NextPCB">
            <a:extLst>
              <a:ext uri="{FF2B5EF4-FFF2-40B4-BE49-F238E27FC236}">
                <a16:creationId xmlns:a16="http://schemas.microsoft.com/office/drawing/2014/main" id="{07879327-A775-4498-A91E-03C5B178D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300" y="493059"/>
            <a:ext cx="3300358" cy="218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ual in-line package - Wikipedia">
            <a:extLst>
              <a:ext uri="{FF2B5EF4-FFF2-40B4-BE49-F238E27FC236}">
                <a16:creationId xmlns:a16="http://schemas.microsoft.com/office/drawing/2014/main" id="{60CEF1A5-B0B9-4282-84F6-00629DF5D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45" y="3935506"/>
            <a:ext cx="2371725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n Introduction to BGA Package - AnySilicon">
            <a:extLst>
              <a:ext uri="{FF2B5EF4-FFF2-40B4-BE49-F238E27FC236}">
                <a16:creationId xmlns:a16="http://schemas.microsoft.com/office/drawing/2014/main" id="{6434EFE6-8370-4DAB-BCEA-0C01824DA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94" y="678236"/>
            <a:ext cx="3455647" cy="2003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ual Inline Package (DIP): An Overview">
            <a:extLst>
              <a:ext uri="{FF2B5EF4-FFF2-40B4-BE49-F238E27FC236}">
                <a16:creationId xmlns:a16="http://schemas.microsoft.com/office/drawing/2014/main" id="{DAF0F129-11CE-48AE-835B-B10022C62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117" y="3682813"/>
            <a:ext cx="3239247" cy="242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107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ypes of IC Packages - Electrical Information">
            <a:extLst>
              <a:ext uri="{FF2B5EF4-FFF2-40B4-BE49-F238E27FC236}">
                <a16:creationId xmlns:a16="http://schemas.microsoft.com/office/drawing/2014/main" id="{63027C57-5D89-49B8-97F3-2EE370A7D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814" y="114300"/>
            <a:ext cx="66675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C Package Types | DIP, SMD, QFP, BGA, SOP, SOT, SOIC">
            <a:extLst>
              <a:ext uri="{FF2B5EF4-FFF2-40B4-BE49-F238E27FC236}">
                <a16:creationId xmlns:a16="http://schemas.microsoft.com/office/drawing/2014/main" id="{E3CB80F4-D87A-42E2-825F-8575FA466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204" y="4008623"/>
            <a:ext cx="4974720" cy="2365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848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6070</TotalTime>
  <Words>341</Words>
  <Application>Microsoft Office PowerPoint</Application>
  <PresentationFormat>如螢幕大小 (4:3)</PresentationFormat>
  <Paragraphs>53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5" baseType="lpstr">
      <vt:lpstr>soleil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Administrator</dc:creator>
  <cp:lastModifiedBy>Administrator</cp:lastModifiedBy>
  <cp:revision>44</cp:revision>
  <dcterms:created xsi:type="dcterms:W3CDTF">2025-05-27T01:48:10Z</dcterms:created>
  <dcterms:modified xsi:type="dcterms:W3CDTF">2026-03-26T01:38:34Z</dcterms:modified>
</cp:coreProperties>
</file>